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embeddedFontLst>
    <p:embeddedFont>
      <p:font typeface="Fraunces Medium"/>
      <p:regular r:id="rId18"/>
    </p:embeddedFont>
    <p:embeddedFont>
      <p:font typeface="Fraunces Bold"/>
      <p:regular r:id="rId19"/>
    </p:embeddedFont>
    <p:embeddedFont>
      <p:font typeface="Epilogue"/>
      <p:regular r:id="rId20"/>
    </p:embeddedFont>
    <p:embeddedFont>
      <p:font typeface="Epilogue Bold"/>
      <p:regular r:id="rId2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font" Target="fonts/font3.fntdata"/><Relationship Id="rId21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0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28315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5842" y="928092"/>
            <a:ext cx="3287316" cy="328731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96119" y="1051173"/>
            <a:ext cx="3527003" cy="266402"/>
          </a:xfrm>
          <a:prstGeom prst="roundRect">
            <a:avLst>
              <a:gd name="adj" fmla="val 17880"/>
            </a:avLst>
          </a:prstGeom>
          <a:solidFill>
            <a:srgbClr val="181E34"/>
          </a:solidFill>
          <a:ln/>
        </p:spPr>
      </p:sp>
      <p:sp>
        <p:nvSpPr>
          <p:cNvPr id="5" name="Text 2"/>
          <p:cNvSpPr/>
          <p:nvPr/>
        </p:nvSpPr>
        <p:spPr>
          <a:xfrm>
            <a:off x="581174" y="1093663"/>
            <a:ext cx="3814093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ADVANCED MACHINE LEARNING · AN-NAJAH NATIONAL UNIVERSITY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496119" y="1374279"/>
            <a:ext cx="4722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Real-Time American Sign Language Recognition using YOLOv8</a:t>
            </a:r>
            <a:endParaRPr lang="en-US" sz="2750" dirty="0"/>
          </a:p>
        </p:txBody>
      </p:sp>
      <p:sp>
        <p:nvSpPr>
          <p:cNvPr id="7" name="Shape 4"/>
          <p:cNvSpPr/>
          <p:nvPr/>
        </p:nvSpPr>
        <p:spPr>
          <a:xfrm>
            <a:off x="496119" y="2951262"/>
            <a:ext cx="4722763" cy="10567"/>
          </a:xfrm>
          <a:prstGeom prst="rect">
            <a:avLst/>
          </a:prstGeom>
          <a:solidFill>
            <a:srgbClr val="EBECEF">
              <a:alpha val="5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496119" y="3284265"/>
            <a:ext cx="21884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Submitted by: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Dareen Abuaisheh · Hana Izzdeen · Mohammed Nabulsi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035201" y="3284265"/>
            <a:ext cx="21884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Instructor: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Dr. Adnan Salman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Date: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May 23,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6393" y="382935"/>
            <a:ext cx="682898" cy="227558"/>
          </a:xfrm>
          <a:prstGeom prst="roundRect">
            <a:avLst>
              <a:gd name="adj" fmla="val 17989"/>
            </a:avLst>
          </a:prstGeom>
          <a:noFill/>
          <a:ln w="4763">
            <a:solidFill>
              <a:srgbClr val="8C98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4230" y="424235"/>
            <a:ext cx="984424" cy="144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750" dirty="0">
                <a:solidFill>
                  <a:srgbClr val="8C98C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MOTIVATION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26393" y="652314"/>
            <a:ext cx="3502968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Introduction</a:t>
            </a:r>
            <a:endParaRPr lang="en-US" sz="23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6393" y="1307753"/>
            <a:ext cx="304577" cy="30457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1789" y="1307753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What is ASL?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861789" y="1602730"/>
            <a:ext cx="3561606" cy="543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American Sign Language is the primary visual communication system used by deaf and hard-of-hearing individuals across the United States.</a:t>
            </a:r>
            <a:endParaRPr lang="en-US" sz="9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6393" y="2355652"/>
            <a:ext cx="304577" cy="30457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1789" y="2355652"/>
            <a:ext cx="1816522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The Communication Gap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861789" y="2650629"/>
            <a:ext cx="3561606" cy="543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Significant barriers persist between ASL users and non-signers, limiting everyday accessibility and social interaction.</a:t>
            </a:r>
            <a:endParaRPr lang="en-US" sz="9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6393" y="3403550"/>
            <a:ext cx="304577" cy="30457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61789" y="3403550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AI as a Solution</a:t>
            </a:r>
            <a:endParaRPr lang="en-US" sz="1150" dirty="0"/>
          </a:p>
        </p:txBody>
      </p:sp>
      <p:sp>
        <p:nvSpPr>
          <p:cNvPr id="13" name="Text 8"/>
          <p:cNvSpPr/>
          <p:nvPr/>
        </p:nvSpPr>
        <p:spPr>
          <a:xfrm>
            <a:off x="861789" y="3698528"/>
            <a:ext cx="3561606" cy="543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Computer Vision and Deep Learning enable real-time assistive systems that bridge this gap without specialized hardware.</a:t>
            </a:r>
            <a:endParaRPr lang="en-US" sz="9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25367" y="1307753"/>
            <a:ext cx="3335089" cy="333508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119" y="1397198"/>
            <a:ext cx="522684" cy="275927"/>
          </a:xfrm>
          <a:prstGeom prst="roundRect">
            <a:avLst>
              <a:gd name="adj" fmla="val 17263"/>
            </a:avLst>
          </a:prstGeom>
          <a:noFill/>
          <a:ln w="4763">
            <a:solidFill>
              <a:srgbClr val="8C98CA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85936" y="1444451"/>
            <a:ext cx="800249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8C98C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GOALS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96119" y="1729829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Project Objectives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496119" y="2385417"/>
            <a:ext cx="4722763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- Develop a real-time ASL recognition system.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- Detect ASL alphabet letters.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- Detect ASL words and gestures.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- Perform real-time webcam-based inference.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- Use YOLOv8 for object detection.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- Improve accessibility using AI technologies.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336" y="325041"/>
            <a:ext cx="329952" cy="197197"/>
          </a:xfrm>
          <a:prstGeom prst="roundRect">
            <a:avLst>
              <a:gd name="adj" fmla="val 18494"/>
            </a:avLst>
          </a:prstGeom>
          <a:noFill/>
          <a:ln w="4763">
            <a:solidFill>
              <a:srgbClr val="8C98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97210" y="362322"/>
            <a:ext cx="647402" cy="122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650" dirty="0">
                <a:solidFill>
                  <a:srgbClr val="8C98C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DATA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27336" y="555427"/>
            <a:ext cx="3170709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Datasets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27336" y="1951137"/>
            <a:ext cx="18139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Letter Dataset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27336" y="2203698"/>
            <a:ext cx="3612207" cy="3356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18000"/>
              </a:lnSpc>
              <a:buSzPct val="100000"/>
              <a:buChar char="•"/>
            </a:pPr>
            <a:r>
              <a:rPr lang="en-US" sz="8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26</a:t>
            </a:r>
            <a:pPr algn="l" marL="342900" indent="-342900">
              <a:lnSpc>
                <a:spcPct val="118000"/>
              </a:lnSpc>
              <a:buSzPct val="100000"/>
              <a:buChar char="•"/>
            </a:pPr>
            <a:r>
              <a:rPr lang="en-US" sz="8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ASL alphabet classes</a:t>
            </a:r>
            <a:endParaRPr lang="en-US" sz="850" dirty="0"/>
          </a:p>
          <a:p>
            <a:pPr algn="l" marL="342900" indent="-342900">
              <a:lnSpc>
                <a:spcPct val="118000"/>
              </a:lnSpc>
              <a:buSzPct val="100000"/>
              <a:buChar char="•"/>
            </a:pPr>
            <a:r>
              <a:rPr lang="en-US" sz="8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1,512 training · 144 validation · 72 test images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27336" y="2622352"/>
            <a:ext cx="2292995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Mixed Letter + Word Dataset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7336" y="2874913"/>
            <a:ext cx="3612207" cy="3356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18000"/>
              </a:lnSpc>
              <a:buSzPct val="100000"/>
              <a:buChar char="•"/>
            </a:pPr>
            <a:r>
              <a:rPr lang="en-US" sz="8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106</a:t>
            </a:r>
            <a:pPr algn="l" marL="342900" indent="-342900">
              <a:lnSpc>
                <a:spcPct val="118000"/>
              </a:lnSpc>
              <a:buSzPct val="100000"/>
              <a:buChar char="•"/>
            </a:pPr>
            <a:r>
              <a:rPr lang="en-US" sz="8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classes (letters + words)</a:t>
            </a:r>
            <a:endParaRPr lang="en-US" sz="850" dirty="0"/>
          </a:p>
          <a:p>
            <a:pPr algn="l" marL="342900" indent="-342900">
              <a:lnSpc>
                <a:spcPct val="118000"/>
              </a:lnSpc>
              <a:buSzPct val="100000"/>
              <a:buChar char="•"/>
            </a:pPr>
            <a:r>
              <a:rPr lang="en-US" sz="8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20,706 training · 1,719 validation · 925 test images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7336" y="3285306"/>
            <a:ext cx="3612207" cy="609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Both datasets use </a:t>
            </a:r>
            <a:pPr algn="l" indent="0" marL="0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YOLO annotation format</a:t>
            </a:r>
            <a:pPr algn="l" indent="0" marL="0">
              <a:lnSpc>
                <a:spcPct val="118000"/>
              </a:lnSpc>
              <a:spcAft>
                <a:spcPts val="550"/>
              </a:spcAft>
              <a:buNone/>
            </a:pPr>
            <a:r>
              <a:rPr lang="en-US" sz="8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</a:t>
            </a:r>
            <a:endParaRPr lang="en-US" sz="850" dirty="0"/>
          </a:p>
          <a:p>
            <a:pPr algn="l" indent="0" marL="0">
              <a:lnSpc>
                <a:spcPct val="118000"/>
              </a:lnSpc>
              <a:spcAft>
                <a:spcPts val="550"/>
              </a:spcAft>
              <a:buNone/>
            </a:pPr>
            <a:r>
              <a:rPr lang="en-US" sz="8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class_id | x_center | y_center |  width | height</a:t>
            </a:r>
            <a:endParaRPr lang="en-US" sz="8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with standard train/val/test splits.</a:t>
            </a:r>
            <a:endParaRPr lang="en-US" sz="8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071" y="1112713"/>
            <a:ext cx="3612207" cy="3612207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071" y="1112713"/>
            <a:ext cx="3612207" cy="361220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489" y="361801"/>
            <a:ext cx="3158133" cy="705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Example from datasets: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489" y="1303883"/>
            <a:ext cx="3092574" cy="309257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45889" y="4497660"/>
            <a:ext cx="3826818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Cheese word</a:t>
            </a:r>
            <a:endParaRPr lang="en-US" sz="11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7368" y="1303883"/>
            <a:ext cx="2992487" cy="299248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324499" y="4397573"/>
            <a:ext cx="4149626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B Letter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64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80640" y="377651"/>
            <a:ext cx="912316" cy="264765"/>
          </a:xfrm>
          <a:prstGeom prst="roundRect">
            <a:avLst>
              <a:gd name="adj" fmla="val 17429"/>
            </a:avLst>
          </a:prstGeom>
          <a:noFill/>
          <a:ln w="4763">
            <a:solidFill>
              <a:srgbClr val="8C98CA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67779" y="423565"/>
            <a:ext cx="1195239" cy="172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850" dirty="0">
                <a:solidFill>
                  <a:srgbClr val="8C98C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ARCHITECTURE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80640" y="695623"/>
            <a:ext cx="3890590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Why YOLOv8?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480640" y="1324273"/>
            <a:ext cx="2310333" cy="1686818"/>
          </a:xfrm>
          <a:prstGeom prst="roundRect">
            <a:avLst>
              <a:gd name="adj" fmla="val 5421"/>
            </a:avLst>
          </a:prstGeom>
          <a:solidFill>
            <a:srgbClr val="080E26"/>
          </a:solidFill>
          <a:ln w="19050">
            <a:solidFill>
              <a:srgbClr val="414A7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61590" y="1324273"/>
            <a:ext cx="76200" cy="1686818"/>
          </a:xfrm>
          <a:prstGeom prst="roundRect">
            <a:avLst>
              <a:gd name="adj" fmla="val 75698"/>
            </a:avLst>
          </a:prstGeom>
          <a:solidFill>
            <a:srgbClr val="8C98CA"/>
          </a:solidFill>
          <a:ln/>
        </p:spPr>
      </p:sp>
      <p:sp>
        <p:nvSpPr>
          <p:cNvPr id="8" name="Text 5"/>
          <p:cNvSpPr/>
          <p:nvPr/>
        </p:nvSpPr>
        <p:spPr>
          <a:xfrm>
            <a:off x="694134" y="1480617"/>
            <a:ext cx="1940496" cy="429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u="sng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Single-Stage Detection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94134" y="1989460"/>
            <a:ext cx="1940496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Localization and classification performed simultaneously in one forward pass.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923952" y="1324273"/>
            <a:ext cx="2310408" cy="1686818"/>
          </a:xfrm>
          <a:prstGeom prst="roundRect">
            <a:avLst>
              <a:gd name="adj" fmla="val 5421"/>
            </a:avLst>
          </a:prstGeom>
          <a:solidFill>
            <a:srgbClr val="080E26"/>
          </a:solidFill>
          <a:ln w="19050">
            <a:solidFill>
              <a:srgbClr val="414A7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904902" y="1324273"/>
            <a:ext cx="76200" cy="1686818"/>
          </a:xfrm>
          <a:prstGeom prst="roundRect">
            <a:avLst>
              <a:gd name="adj" fmla="val 75698"/>
            </a:avLst>
          </a:prstGeom>
          <a:solidFill>
            <a:srgbClr val="8C98CA"/>
          </a:solidFill>
          <a:ln/>
        </p:spPr>
      </p:sp>
      <p:sp>
        <p:nvSpPr>
          <p:cNvPr id="12" name="Text 9"/>
          <p:cNvSpPr/>
          <p:nvPr/>
        </p:nvSpPr>
        <p:spPr>
          <a:xfrm>
            <a:off x="3137446" y="1480617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u="sng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Speed &amp; Accuracy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3137446" y="1774924"/>
            <a:ext cx="1940570" cy="648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Fast inference with strong detection accuracy — ideal for real-time applications.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80640" y="3144069"/>
            <a:ext cx="2310333" cy="1255961"/>
          </a:xfrm>
          <a:prstGeom prst="roundRect">
            <a:avLst>
              <a:gd name="adj" fmla="val 7280"/>
            </a:avLst>
          </a:prstGeom>
          <a:solidFill>
            <a:srgbClr val="080E26"/>
          </a:solidFill>
          <a:ln w="19050">
            <a:solidFill>
              <a:srgbClr val="414A7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61590" y="3144069"/>
            <a:ext cx="76200" cy="1255961"/>
          </a:xfrm>
          <a:prstGeom prst="roundRect">
            <a:avLst>
              <a:gd name="adj" fmla="val 75698"/>
            </a:avLst>
          </a:prstGeom>
          <a:solidFill>
            <a:srgbClr val="8C98CA"/>
          </a:solidFill>
          <a:ln/>
        </p:spPr>
      </p:sp>
      <p:sp>
        <p:nvSpPr>
          <p:cNvPr id="16" name="Text 13"/>
          <p:cNvSpPr/>
          <p:nvPr/>
        </p:nvSpPr>
        <p:spPr>
          <a:xfrm>
            <a:off x="694134" y="3300413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u="sng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Transfer Learning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694134" y="3594720"/>
            <a:ext cx="1940496" cy="648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Pretrained COCO weights accelerate convergence and improve generalization.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2923952" y="3144069"/>
            <a:ext cx="2310408" cy="1255961"/>
          </a:xfrm>
          <a:prstGeom prst="roundRect">
            <a:avLst>
              <a:gd name="adj" fmla="val 7280"/>
            </a:avLst>
          </a:prstGeom>
          <a:solidFill>
            <a:srgbClr val="080E26"/>
          </a:solidFill>
          <a:ln w="19050">
            <a:solidFill>
              <a:srgbClr val="414A7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904902" y="3144069"/>
            <a:ext cx="76200" cy="1255961"/>
          </a:xfrm>
          <a:prstGeom prst="roundRect">
            <a:avLst>
              <a:gd name="adj" fmla="val 75698"/>
            </a:avLst>
          </a:prstGeom>
          <a:solidFill>
            <a:srgbClr val="8C98CA"/>
          </a:solidFill>
          <a:ln/>
        </p:spPr>
      </p:sp>
      <p:sp>
        <p:nvSpPr>
          <p:cNvPr id="20" name="Text 17"/>
          <p:cNvSpPr/>
          <p:nvPr/>
        </p:nvSpPr>
        <p:spPr>
          <a:xfrm>
            <a:off x="3137446" y="3300413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u="sng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YOLOv8n Selected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3137446" y="3594720"/>
            <a:ext cx="1940570" cy="648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Nano variant chosen for lightweight footprint and webcam compatibility.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80640" y="4549676"/>
            <a:ext cx="5210919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Built on </a:t>
            </a:r>
            <a:pPr algn="l" indent="0" marL="0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PyTorch</a:t>
            </a:r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via the </a:t>
            </a:r>
            <a:pPr algn="l" indent="0" marL="0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Ultralytics</a:t>
            </a:r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framework.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692572"/>
            <a:ext cx="959644" cy="275927"/>
          </a:xfrm>
          <a:prstGeom prst="roundRect">
            <a:avLst>
              <a:gd name="adj" fmla="val 17263"/>
            </a:avLst>
          </a:prstGeom>
          <a:noFill/>
          <a:ln w="4763">
            <a:solidFill>
              <a:srgbClr val="8C98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936" y="739825"/>
            <a:ext cx="1237208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8C98C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METHODOLOGY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025203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System Pipeline</a:t>
            </a:r>
            <a:endParaRPr lang="en-US" sz="2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680790"/>
            <a:ext cx="8151763" cy="2157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6263" y="2410128"/>
            <a:ext cx="1460836" cy="220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Dataset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124863" y="2693519"/>
            <a:ext cx="1232236" cy="353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Collect ASL video samples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308315" y="2471905"/>
            <a:ext cx="1460836" cy="220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Annotation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2536915" y="2755296"/>
            <a:ext cx="1232236" cy="353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Label frames in YOLO format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720367" y="2410128"/>
            <a:ext cx="1460836" cy="220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Preparation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3948967" y="2693519"/>
            <a:ext cx="1232236" cy="52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Split data and apply augmentation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132419" y="2471905"/>
            <a:ext cx="1460836" cy="220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Training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5361019" y="2755296"/>
            <a:ext cx="1232236" cy="353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Train YOLOv8n with CUDA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552316" y="2410128"/>
            <a:ext cx="1460836" cy="220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Validation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780916" y="2693519"/>
            <a:ext cx="1232236" cy="353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Evaluate mAP and metrics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96119" y="3997300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Training leveraged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CUDA GPU acceleration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on an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NVIDIA A100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, with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OpenCV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handling frame capture and preprocessing for live webcam inference.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26531" y="360090"/>
            <a:ext cx="314474" cy="119955"/>
          </a:xfrm>
          <a:prstGeom prst="roundRect">
            <a:avLst>
              <a:gd name="adj" fmla="val 19855"/>
            </a:avLst>
          </a:prstGeom>
          <a:noFill/>
          <a:ln w="4763">
            <a:solidFill>
              <a:srgbClr val="8C98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173784" y="386060"/>
            <a:ext cx="677168" cy="68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dirty="0">
                <a:solidFill>
                  <a:srgbClr val="8C98C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RESULTS</a:t>
            </a:r>
            <a:endParaRPr lang="en-US" sz="400" dirty="0"/>
          </a:p>
        </p:txBody>
      </p:sp>
      <p:sp>
        <p:nvSpPr>
          <p:cNvPr id="4" name="Text 2"/>
          <p:cNvSpPr/>
          <p:nvPr/>
        </p:nvSpPr>
        <p:spPr>
          <a:xfrm>
            <a:off x="2126531" y="494184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Model Results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2126531" y="804193"/>
            <a:ext cx="1425253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Letter Detection Model</a:t>
            </a:r>
            <a:endParaRPr lang="en-US" sz="650" dirty="0"/>
          </a:p>
        </p:txBody>
      </p:sp>
      <p:sp>
        <p:nvSpPr>
          <p:cNvPr id="6" name="Shape 4"/>
          <p:cNvSpPr/>
          <p:nvPr/>
        </p:nvSpPr>
        <p:spPr>
          <a:xfrm>
            <a:off x="2126531" y="954732"/>
            <a:ext cx="1161752" cy="382414"/>
          </a:xfrm>
          <a:prstGeom prst="roundRect">
            <a:avLst>
              <a:gd name="adj" fmla="val 7785"/>
            </a:avLst>
          </a:prstGeom>
          <a:solidFill>
            <a:srgbClr val="283157"/>
          </a:solidFill>
          <a:ln w="4763">
            <a:solidFill>
              <a:srgbClr val="414A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02135" y="1030337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Precision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2202135" y="1176486"/>
            <a:ext cx="101054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0.94436</a:t>
            </a:r>
            <a:endParaRPr lang="en-US" sz="550" dirty="0"/>
          </a:p>
        </p:txBody>
      </p:sp>
      <p:sp>
        <p:nvSpPr>
          <p:cNvPr id="9" name="Shape 7"/>
          <p:cNvSpPr/>
          <p:nvPr/>
        </p:nvSpPr>
        <p:spPr>
          <a:xfrm>
            <a:off x="3323704" y="954732"/>
            <a:ext cx="1161827" cy="382414"/>
          </a:xfrm>
          <a:prstGeom prst="roundRect">
            <a:avLst>
              <a:gd name="adj" fmla="val 7785"/>
            </a:avLst>
          </a:prstGeom>
          <a:solidFill>
            <a:srgbClr val="283157"/>
          </a:solidFill>
          <a:ln w="4763">
            <a:solidFill>
              <a:srgbClr val="414A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99309" y="1030337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Recall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3399309" y="1176486"/>
            <a:ext cx="1010617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0.88544</a:t>
            </a:r>
            <a:endParaRPr lang="en-US" sz="550" dirty="0"/>
          </a:p>
        </p:txBody>
      </p:sp>
      <p:sp>
        <p:nvSpPr>
          <p:cNvPr id="12" name="Shape 10"/>
          <p:cNvSpPr/>
          <p:nvPr/>
        </p:nvSpPr>
        <p:spPr>
          <a:xfrm>
            <a:off x="2126531" y="1372567"/>
            <a:ext cx="1161752" cy="382414"/>
          </a:xfrm>
          <a:prstGeom prst="roundRect">
            <a:avLst>
              <a:gd name="adj" fmla="val 7785"/>
            </a:avLst>
          </a:prstGeom>
          <a:solidFill>
            <a:srgbClr val="283157"/>
          </a:solidFill>
          <a:ln w="4763">
            <a:solidFill>
              <a:srgbClr val="414A7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02135" y="1448172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mAP50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2202135" y="1594321"/>
            <a:ext cx="101054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0.95736</a:t>
            </a:r>
            <a:endParaRPr lang="en-US" sz="550" dirty="0"/>
          </a:p>
        </p:txBody>
      </p:sp>
      <p:sp>
        <p:nvSpPr>
          <p:cNvPr id="15" name="Shape 13"/>
          <p:cNvSpPr/>
          <p:nvPr/>
        </p:nvSpPr>
        <p:spPr>
          <a:xfrm>
            <a:off x="3323704" y="1372567"/>
            <a:ext cx="1161827" cy="382414"/>
          </a:xfrm>
          <a:prstGeom prst="roundRect">
            <a:avLst>
              <a:gd name="adj" fmla="val 7785"/>
            </a:avLst>
          </a:prstGeom>
          <a:solidFill>
            <a:srgbClr val="283157"/>
          </a:solidFill>
          <a:ln w="4763">
            <a:solidFill>
              <a:srgbClr val="414A7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99309" y="1448172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mAP50–95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3399309" y="1594321"/>
            <a:ext cx="1010617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0.77851</a:t>
            </a:r>
            <a:endParaRPr lang="en-US" sz="550" dirty="0"/>
          </a:p>
        </p:txBody>
      </p:sp>
      <p:sp>
        <p:nvSpPr>
          <p:cNvPr id="18" name="Text 16"/>
          <p:cNvSpPr/>
          <p:nvPr/>
        </p:nvSpPr>
        <p:spPr>
          <a:xfrm>
            <a:off x="4663232" y="804193"/>
            <a:ext cx="13431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Mixed Dataset Model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4663232" y="954732"/>
            <a:ext cx="1161752" cy="382414"/>
          </a:xfrm>
          <a:prstGeom prst="roundRect">
            <a:avLst>
              <a:gd name="adj" fmla="val 7785"/>
            </a:avLst>
          </a:prstGeom>
          <a:solidFill>
            <a:srgbClr val="283157"/>
          </a:solidFill>
          <a:ln w="4763">
            <a:solidFill>
              <a:srgbClr val="414A7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38836" y="1030337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Precision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4738836" y="1176486"/>
            <a:ext cx="101054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0.96172</a:t>
            </a:r>
            <a:endParaRPr lang="en-US" sz="550" dirty="0"/>
          </a:p>
        </p:txBody>
      </p:sp>
      <p:sp>
        <p:nvSpPr>
          <p:cNvPr id="22" name="Shape 20"/>
          <p:cNvSpPr/>
          <p:nvPr/>
        </p:nvSpPr>
        <p:spPr>
          <a:xfrm>
            <a:off x="5860405" y="954732"/>
            <a:ext cx="1161827" cy="382414"/>
          </a:xfrm>
          <a:prstGeom prst="roundRect">
            <a:avLst>
              <a:gd name="adj" fmla="val 7785"/>
            </a:avLst>
          </a:prstGeom>
          <a:solidFill>
            <a:srgbClr val="283157"/>
          </a:solidFill>
          <a:ln w="4763">
            <a:solidFill>
              <a:srgbClr val="414A7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36010" y="1030337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Recall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5936010" y="1176486"/>
            <a:ext cx="1010617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0.96392</a:t>
            </a:r>
            <a:endParaRPr lang="en-US" sz="550" dirty="0"/>
          </a:p>
        </p:txBody>
      </p:sp>
      <p:sp>
        <p:nvSpPr>
          <p:cNvPr id="25" name="Shape 23"/>
          <p:cNvSpPr/>
          <p:nvPr/>
        </p:nvSpPr>
        <p:spPr>
          <a:xfrm>
            <a:off x="4663232" y="1372567"/>
            <a:ext cx="1161752" cy="382414"/>
          </a:xfrm>
          <a:prstGeom prst="roundRect">
            <a:avLst>
              <a:gd name="adj" fmla="val 7785"/>
            </a:avLst>
          </a:prstGeom>
          <a:solidFill>
            <a:srgbClr val="283157"/>
          </a:solidFill>
          <a:ln w="4763">
            <a:solidFill>
              <a:srgbClr val="414A7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38836" y="1448172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mAP50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4738836" y="1594321"/>
            <a:ext cx="101054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0.97259</a:t>
            </a:r>
            <a:endParaRPr lang="en-US" sz="550" dirty="0"/>
          </a:p>
        </p:txBody>
      </p:sp>
      <p:sp>
        <p:nvSpPr>
          <p:cNvPr id="28" name="Shape 26"/>
          <p:cNvSpPr/>
          <p:nvPr/>
        </p:nvSpPr>
        <p:spPr>
          <a:xfrm>
            <a:off x="5860405" y="1372567"/>
            <a:ext cx="1161827" cy="382414"/>
          </a:xfrm>
          <a:prstGeom prst="roundRect">
            <a:avLst>
              <a:gd name="adj" fmla="val 7785"/>
            </a:avLst>
          </a:prstGeom>
          <a:solidFill>
            <a:srgbClr val="283157"/>
          </a:solidFill>
          <a:ln w="4763">
            <a:solidFill>
              <a:srgbClr val="414A7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36010" y="1448172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mAP50–95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5936010" y="1594321"/>
            <a:ext cx="1010617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0.73395</a:t>
            </a:r>
            <a:endParaRPr lang="en-US" sz="550" dirty="0"/>
          </a:p>
        </p:txBody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6531" y="1834604"/>
            <a:ext cx="4890939" cy="2738884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2126531" y="4613300"/>
            <a:ext cx="4890939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The chart compares the four core performance metrics across both models, highlighting stronger overall precision, recall, and mAP50 for the mixed dataset model.</a:t>
            </a:r>
            <a:endParaRPr lang="en-US" sz="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336" y="325041"/>
            <a:ext cx="503858" cy="197197"/>
          </a:xfrm>
          <a:prstGeom prst="roundRect">
            <a:avLst>
              <a:gd name="adj" fmla="val 18494"/>
            </a:avLst>
          </a:prstGeom>
          <a:noFill/>
          <a:ln w="4763">
            <a:solidFill>
              <a:srgbClr val="8C98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97210" y="362322"/>
            <a:ext cx="821308" cy="122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650" dirty="0">
                <a:solidFill>
                  <a:srgbClr val="8C98C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ANALYSIS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27336" y="555427"/>
            <a:ext cx="3289920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Comparative Analysis</a:t>
            </a:r>
            <a:endParaRPr lang="en-US" sz="2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336" y="1112713"/>
            <a:ext cx="3612207" cy="3612207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336" y="1112713"/>
            <a:ext cx="3612207" cy="361220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709071" y="2162845"/>
            <a:ext cx="18139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Key Observations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4709071" y="2415406"/>
            <a:ext cx="3612207" cy="1313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18000"/>
              </a:lnSpc>
              <a:buSzPct val="100000"/>
              <a:buChar char="•"/>
            </a:pPr>
            <a:r>
              <a:rPr lang="en-US" sz="8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Letter-Only:</a:t>
            </a:r>
            <a:pPr algn="l" marL="342900" indent="-342900">
              <a:lnSpc>
                <a:spcPct val="118000"/>
              </a:lnSpc>
              <a:buSzPct val="100000"/>
              <a:buChar char="•"/>
            </a:pPr>
            <a:r>
              <a:rPr lang="en-US" sz="8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Cleaner predictions due to smaller class space and reduced gesture ambiguity.</a:t>
            </a:r>
            <a:endParaRPr lang="en-US" sz="850" dirty="0"/>
          </a:p>
          <a:p>
            <a:pPr algn="l" marL="342900" indent="-342900">
              <a:lnSpc>
                <a:spcPct val="118000"/>
              </a:lnSpc>
              <a:buSzPct val="100000"/>
              <a:buChar char="•"/>
            </a:pPr>
            <a:r>
              <a:rPr lang="en-US" sz="8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Mixed Dataset:</a:t>
            </a:r>
            <a:pPr algn="l" marL="342900" indent="-342900">
              <a:lnSpc>
                <a:spcPct val="118000"/>
              </a:lnSpc>
              <a:buSzPct val="100000"/>
              <a:buChar char="•"/>
            </a:pPr>
            <a:r>
              <a:rPr lang="en-US" sz="8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Higher overall metrics driven by larger, more diverse training data.</a:t>
            </a:r>
            <a:endParaRPr lang="en-US" sz="850" dirty="0"/>
          </a:p>
          <a:p>
            <a:pPr algn="l" marL="342900" indent="-342900">
              <a:lnSpc>
                <a:spcPct val="118000"/>
              </a:lnSpc>
              <a:buSzPct val="100000"/>
              <a:buChar char="•"/>
            </a:pPr>
            <a:r>
              <a:rPr lang="en-US" sz="8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Complexity Trade-off:</a:t>
            </a:r>
            <a:pPr algn="l" marL="342900" indent="-342900">
              <a:lnSpc>
                <a:spcPct val="118000"/>
              </a:lnSpc>
              <a:buSzPct val="100000"/>
              <a:buChar char="•"/>
            </a:pPr>
            <a:r>
              <a:rPr lang="en-US" sz="8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More classes increased inter-class confusion, slightly lowering mAP50–95.</a:t>
            </a:r>
            <a:endParaRPr lang="en-US" sz="850" dirty="0"/>
          </a:p>
          <a:p>
            <a:pPr algn="l" marL="342900" indent="-342900">
              <a:lnSpc>
                <a:spcPct val="118000"/>
              </a:lnSpc>
              <a:buSzPct val="100000"/>
              <a:buChar char="•"/>
            </a:pPr>
            <a:r>
              <a:rPr lang="en-US" sz="8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Real-World Relevance:</a:t>
            </a:r>
            <a:pPr algn="l" marL="342900" indent="-342900">
              <a:lnSpc>
                <a:spcPct val="118000"/>
              </a:lnSpc>
              <a:buSzPct val="100000"/>
              <a:buChar char="•"/>
            </a:pPr>
            <a:r>
              <a:rPr lang="en-US" sz="8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The mixed model better reflects practical ASL recognition scenarios.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88379" y="614214"/>
            <a:ext cx="778818" cy="270346"/>
          </a:xfrm>
          <a:prstGeom prst="roundRect">
            <a:avLst>
              <a:gd name="adj" fmla="val 17344"/>
            </a:avLst>
          </a:prstGeom>
          <a:noFill/>
          <a:ln w="4763">
            <a:solidFill>
              <a:srgbClr val="8C98CA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76858" y="660797"/>
            <a:ext cx="1059061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850" dirty="0">
                <a:solidFill>
                  <a:srgbClr val="8C98C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REFLECTION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88379" y="939478"/>
            <a:ext cx="5185544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Challenges and Future Work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387921" y="1581596"/>
            <a:ext cx="2399854" cy="2947690"/>
          </a:xfrm>
          <a:prstGeom prst="roundRect">
            <a:avLst>
              <a:gd name="adj" fmla="val 4187"/>
            </a:avLst>
          </a:prstGeom>
          <a:solidFill>
            <a:srgbClr val="8C98CA"/>
          </a:solidFill>
          <a:ln/>
        </p:spPr>
      </p:sp>
      <p:sp>
        <p:nvSpPr>
          <p:cNvPr id="7" name="Text 4"/>
          <p:cNvSpPr/>
          <p:nvPr/>
        </p:nvSpPr>
        <p:spPr>
          <a:xfrm>
            <a:off x="527447" y="1718965"/>
            <a:ext cx="22015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Challenges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27447" y="2074366"/>
            <a:ext cx="2120801" cy="2406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Lighting variability across environments</a:t>
            </a:r>
            <a:endParaRPr lang="en-US" sz="1050" dirty="0"/>
          </a:p>
          <a:p>
            <a:pPr algn="l" marL="342900" indent="-342900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High gesture similarity between classes</a:t>
            </a:r>
            <a:endParaRPr lang="en-US" sz="1050" dirty="0"/>
          </a:p>
          <a:p>
            <a:pPr algn="l" marL="342900" indent="-342900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Background complexity in real-world settings</a:t>
            </a:r>
            <a:endParaRPr lang="en-US" sz="1050" dirty="0"/>
          </a:p>
          <a:p>
            <a:pPr algn="l" marL="342900" indent="-342900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Webcam resolution and frame-rate limitations</a:t>
            </a:r>
            <a:endParaRPr lang="en-US" sz="1050" dirty="0"/>
          </a:p>
          <a:p>
            <a:pPr algn="l" marL="342900" indent="-342900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Absence of temporal modeling for dynamic signs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032447" y="1718965"/>
            <a:ext cx="22015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Future Directions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3032447" y="2074366"/>
            <a:ext cx="2198936" cy="21373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Sentence-level and continuous sign recognition</a:t>
            </a:r>
            <a:endParaRPr lang="en-US" sz="1050" dirty="0"/>
          </a:p>
          <a:p>
            <a:pPr algn="l" marL="342900" indent="-342900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Temporal modeling via LSTM or Transformer architectures</a:t>
            </a:r>
            <a:endParaRPr lang="en-US" sz="1050" dirty="0"/>
          </a:p>
          <a:p>
            <a:pPr algn="l" marL="342900" indent="-342900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Expanded, more diverse ASL datasets</a:t>
            </a:r>
            <a:endParaRPr lang="en-US" sz="1050" dirty="0"/>
          </a:p>
          <a:p>
            <a:pPr algn="l" marL="342900" indent="-342900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Text-to-speech integration for full accessibility pipeline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49610" y="372517"/>
            <a:ext cx="624260" cy="233660"/>
          </a:xfrm>
          <a:prstGeom prst="roundRect">
            <a:avLst>
              <a:gd name="adj" fmla="val 18475"/>
            </a:avLst>
          </a:prstGeom>
          <a:solidFill>
            <a:srgbClr val="181E34"/>
          </a:solidFill>
          <a:ln/>
        </p:spPr>
      </p:sp>
      <p:sp>
        <p:nvSpPr>
          <p:cNvPr id="4" name="Text 1"/>
          <p:cNvSpPr/>
          <p:nvPr/>
        </p:nvSpPr>
        <p:spPr>
          <a:xfrm>
            <a:off x="526628" y="410989"/>
            <a:ext cx="927422" cy="156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8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SUMMARY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449610" y="652686"/>
            <a:ext cx="3669060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Conclusion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449610" y="1228725"/>
            <a:ext cx="289024" cy="289024"/>
          </a:xfrm>
          <a:prstGeom prst="roundRect">
            <a:avLst>
              <a:gd name="adj" fmla="val 18670"/>
            </a:avLst>
          </a:prstGeom>
          <a:solidFill>
            <a:srgbClr val="283157"/>
          </a:solidFill>
          <a:ln w="4763">
            <a:solidFill>
              <a:srgbClr val="414A7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97793" y="1252798"/>
            <a:ext cx="192658" cy="240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55018" y="1272853"/>
            <a:ext cx="1929705" cy="401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Real-Time System Delivered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55018" y="1744042"/>
            <a:ext cx="1929705" cy="783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Successfully built an end-to-end ASL recognition pipeline using YOLOv8 with live webcam inference.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930203" y="1228725"/>
            <a:ext cx="289024" cy="289024"/>
          </a:xfrm>
          <a:prstGeom prst="roundRect">
            <a:avLst>
              <a:gd name="adj" fmla="val 18670"/>
            </a:avLst>
          </a:prstGeom>
          <a:solidFill>
            <a:srgbClr val="283157"/>
          </a:solidFill>
          <a:ln w="4763">
            <a:solidFill>
              <a:srgbClr val="414A7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978386" y="1252798"/>
            <a:ext cx="192658" cy="240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3335610" y="1272853"/>
            <a:ext cx="1831181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Dual Detection Modules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3335610" y="1543348"/>
            <a:ext cx="1929780" cy="783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Implemented both letter-level (26 classes) and word-level (106 classes) detection with strong mAP scores.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49610" y="2760613"/>
            <a:ext cx="289024" cy="289024"/>
          </a:xfrm>
          <a:prstGeom prst="roundRect">
            <a:avLst>
              <a:gd name="adj" fmla="val 18670"/>
            </a:avLst>
          </a:prstGeom>
          <a:solidFill>
            <a:srgbClr val="283157"/>
          </a:solidFill>
          <a:ln w="4763">
            <a:solidFill>
              <a:srgbClr val="414A7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97793" y="2784686"/>
            <a:ext cx="192658" cy="240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55018" y="2804740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AI for Accessibility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855018" y="3075236"/>
            <a:ext cx="4410373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Demonstrated the practical potential of computer vision to bridge communication gaps for the deaf community.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49610" y="3630141"/>
            <a:ext cx="4815780" cy="9599"/>
          </a:xfrm>
          <a:prstGeom prst="rect">
            <a:avLst/>
          </a:prstGeom>
          <a:solidFill>
            <a:srgbClr val="EBECEF">
              <a:alpha val="50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449610" y="3846388"/>
            <a:ext cx="4889599" cy="554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dirty="0">
                <a:solidFill>
                  <a:srgbClr val="80002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Thank You</a:t>
            </a:r>
            <a:endParaRPr lang="en-US" sz="3450" dirty="0"/>
          </a:p>
        </p:txBody>
      </p:sp>
      <p:sp>
        <p:nvSpPr>
          <p:cNvPr id="20" name="Text 17"/>
          <p:cNvSpPr/>
          <p:nvPr/>
        </p:nvSpPr>
        <p:spPr>
          <a:xfrm>
            <a:off x="449610" y="4574977"/>
            <a:ext cx="5272980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An-Najah National University | May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2026-05-23T04:39:54Z</dcterms:created>
  <dcterms:modified xsi:type="dcterms:W3CDTF">2026-05-23T04:39:54Z</dcterms:modified>
</cp:coreProperties>
</file>